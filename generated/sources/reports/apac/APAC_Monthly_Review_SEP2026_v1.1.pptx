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EUR k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 26</c:v>
                </c:pt>
              </c:strCache>
            </c:strRef>
          </c:tx>
          <c:spPr>
            <a:solidFill>
              <a:srgbClr val="0E4D64"/>
            </a:solidFill>
          </c:spPr>
          <c:cat>
            <c:strRef>
              <c:f>Sheet1!$A$2:$A$7</c:f>
              <c:strCache>
                <c:ptCount val="6"/>
                <c:pt idx="0">
                  <c:v>Oceania</c:v>
                </c:pt>
                <c:pt idx="1">
                  <c:v>South-East Asia</c:v>
                </c:pt>
                <c:pt idx="2">
                  <c:v>HK &amp; Taiwan</c:v>
                </c:pt>
                <c:pt idx="3">
                  <c:v>Mainland China</c:v>
                </c:pt>
                <c:pt idx="4">
                  <c:v>Korea</c:v>
                </c:pt>
                <c:pt idx="5">
                  <c:v>Japan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249</c:v>
                </c:pt>
                <c:pt idx="1">
                  <c:v>786</c:v>
                </c:pt>
                <c:pt idx="2">
                  <c:v>1188</c:v>
                </c:pt>
                <c:pt idx="3">
                  <c:v>4649</c:v>
                </c:pt>
                <c:pt idx="4">
                  <c:v>3719</c:v>
                </c:pt>
                <c:pt idx="5">
                  <c:v>5321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25</c:v>
                </c:pt>
              </c:strCache>
            </c:strRef>
          </c:tx>
          <c:spPr>
            <a:solidFill>
              <a:srgbClr val="B8C4CC"/>
            </a:solidFill>
          </c:spPr>
          <c:cat>
            <c:strRef>
              <c:f>Sheet1!$A$2:$A$7</c:f>
              <c:strCache>
                <c:ptCount val="6"/>
                <c:pt idx="0">
                  <c:v>Oceania</c:v>
                </c:pt>
                <c:pt idx="1">
                  <c:v>South-East Asia</c:v>
                </c:pt>
                <c:pt idx="2">
                  <c:v>HK &amp; Taiwan</c:v>
                </c:pt>
                <c:pt idx="3">
                  <c:v>Mainland China</c:v>
                </c:pt>
                <c:pt idx="4">
                  <c:v>Korea</c:v>
                </c:pt>
                <c:pt idx="5">
                  <c:v>Japan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343</c:v>
                </c:pt>
                <c:pt idx="1">
                  <c:v>799</c:v>
                </c:pt>
                <c:pt idx="2">
                  <c:v>1350</c:v>
                </c:pt>
                <c:pt idx="3">
                  <c:v>3889</c:v>
                </c:pt>
                <c:pt idx="4">
                  <c:v>3161</c:v>
                </c:pt>
                <c:pt idx="5">
                  <c:v>4569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Weekly sales Sun-Sat, JPY m (tax incl.)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E4D64"/>
            </a:solidFill>
          </c:spPr>
          <c:cat>
            <c:strRef>
              <c:f>Sheet1!$A$2:$A$6</c:f>
              <c:strCache>
                <c:ptCount val="5"/>
                <c:pt idx="0">
                  <c:v>8/30</c:v>
                </c:pt>
                <c:pt idx="1">
                  <c:v>9/6</c:v>
                </c:pt>
                <c:pt idx="2">
                  <c:v>9/13</c:v>
                </c:pt>
                <c:pt idx="3">
                  <c:v>9/20</c:v>
                </c:pt>
                <c:pt idx="4">
                  <c:v>9/27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148</c:v>
                </c:pt>
                <c:pt idx="2">
                  <c:v>204</c:v>
                </c:pt>
                <c:pt idx="3">
                  <c:v>212</c:v>
                </c:pt>
                <c:pt idx="4">
                  <c:v>195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8C4CC"/>
            </a:solidFill>
          </c:spPr>
          <c:cat>
            <c:strRef>
              <c:f>Sheet1!$A$2:$A$6</c:f>
              <c:strCache>
                <c:ptCount val="5"/>
                <c:pt idx="0">
                  <c:v>8/30</c:v>
                </c:pt>
                <c:pt idx="1">
                  <c:v>9/6</c:v>
                </c:pt>
                <c:pt idx="2">
                  <c:v>9/13</c:v>
                </c:pt>
                <c:pt idx="3">
                  <c:v>9/20</c:v>
                </c:pt>
                <c:pt idx="4">
                  <c:v>9/27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129</c:v>
                </c:pt>
                <c:pt idx="1">
                  <c:v>133</c:v>
                </c:pt>
                <c:pt idx="2">
                  <c:v>145</c:v>
                </c:pt>
                <c:pt idx="3">
                  <c:v>159</c:v>
                </c:pt>
                <c:pt idx="4">
                  <c:v>202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POLARIS units sold 24-30/9 by APAC market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24-30/9</c:v>
                </c:pt>
              </c:strCache>
            </c:strRef>
          </c:tx>
          <c:spPr>
            <a:solidFill>
              <a:srgbClr val="E07A5F"/>
            </a:solidFill>
          </c:spPr>
          <c:cat>
            <c:strRef>
              <c:f>Sheet1!$A$2:$A$7</c:f>
              <c:strCache>
                <c:ptCount val="6"/>
                <c:pt idx="0">
                  <c:v>HK/Macau/TW</c:v>
                </c:pt>
                <c:pt idx="1">
                  <c:v>Japan</c:v>
                </c:pt>
                <c:pt idx="2">
                  <c:v>Korea</c:v>
                </c:pt>
                <c:pt idx="3">
                  <c:v>Mainland China</c:v>
                </c:pt>
                <c:pt idx="4">
                  <c:v>Oceania</c:v>
                </c:pt>
                <c:pt idx="5">
                  <c:v>South-East 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16</c:v>
                </c:pt>
                <c:pt idx="2">
                  <c:v>16</c:v>
                </c:pt>
                <c:pt idx="3">
                  <c:v>129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/>
              <a:t>SYD01 September sales mix by season group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SYD01 mix %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HEAVY</c:v>
                </c:pt>
                <c:pt idx="1">
                  <c:v>LIGHT</c:v>
                </c:pt>
                <c:pt idx="2">
                  <c:v>MID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57.0</c:v>
                </c:pt>
                <c:pt idx="1">
                  <c:v>8.0</c:v>
                </c:pt>
                <c:pt idx="2">
                  <c:v>35.0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Units sold by style and market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0E4D64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53</c:v>
                </c:pt>
                <c:pt idx="2">
                  <c:v>97</c:v>
                </c:pt>
                <c:pt idx="3">
                  <c:v>57</c:v>
                </c:pt>
                <c:pt idx="4">
                  <c:v>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Korea</c:v>
                </c:pt>
              </c:strCache>
            </c:strRef>
          </c:tx>
          <c:spPr>
            <a:solidFill>
              <a:srgbClr val="3D7EA6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41</c:v>
                </c:pt>
                <c:pt idx="1">
                  <c:v>66</c:v>
                </c:pt>
                <c:pt idx="2">
                  <c:v>160</c:v>
                </c:pt>
                <c:pt idx="3">
                  <c:v>63</c:v>
                </c:pt>
                <c:pt idx="4">
                  <c:v>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Mainland China</c:v>
                </c:pt>
              </c:strCache>
            </c:strRef>
          </c:tx>
          <c:spPr>
            <a:solidFill>
              <a:srgbClr val="E07A5F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85</c:v>
                </c:pt>
                <c:pt idx="1">
                  <c:v>80</c:v>
                </c:pt>
                <c:pt idx="2">
                  <c:v>78</c:v>
                </c:pt>
                <c:pt idx="3">
                  <c:v>49</c:v>
                </c:pt>
                <c:pt idx="4">
                  <c:v>88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HK/Macau/TW</c:v>
                </c:pt>
              </c:strCache>
            </c:strRef>
          </c:tx>
          <c:spPr>
            <a:solidFill>
              <a:srgbClr val="F2CC8F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15</c:v>
                </c:pt>
                <c:pt idx="1">
                  <c:v>19</c:v>
                </c:pt>
                <c:pt idx="2">
                  <c:v>27</c:v>
                </c:pt>
                <c:pt idx="3">
                  <c:v>19</c:v>
                </c:pt>
                <c:pt idx="4">
                  <c:v>30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South-East Asia</c:v>
                </c:pt>
              </c:strCache>
            </c:strRef>
          </c:tx>
          <c:spPr>
            <a:solidFill>
              <a:srgbClr val="81B29A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17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Oceania</c:v>
                </c:pt>
              </c:strCache>
            </c:strRef>
          </c:tx>
          <c:spPr>
            <a:solidFill>
              <a:srgbClr val="B8C4CC"/>
            </a:solidFill>
          </c:spPr>
          <c:cat>
            <c:strRef>
              <c:f>Sheet1!$A$2:$A$6</c:f>
              <c:strCache>
                <c:ptCount val="5"/>
                <c:pt idx="0">
                  <c:v>AMBRINE</c:v>
                </c:pt>
                <c:pt idx="1">
                  <c:v>ARNEB</c:v>
                </c:pt>
                <c:pt idx="2">
                  <c:v>ILVARO</c:v>
                </c:pt>
                <c:pt idx="3">
                  <c:v>ROSIERE</c:v>
                </c:pt>
                <c:pt idx="4">
                  <c:v>WOOL TURTLENECK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6</c:v>
                </c:pt>
                <c:pt idx="3">
                  <c:v>2</c:v>
                </c:pt>
                <c:pt idx="4">
                  <c:v>6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ILVARO powder pink - APAC daily units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ILVARO powder pink units</c:v>
                </c:pt>
              </c:strCache>
            </c:strRef>
          </c:tx>
          <c:spPr>
            <a:solidFill>
              <a:srgbClr val="E07A5F"/>
            </a:solidFill>
          </c:spPr>
          <c:cat>
            <c:strRef>
              <c:f>Sheet1!$A$2:$A$12</c:f>
              <c:strCache>
                <c:ptCount val="11"/>
                <c:pt idx="0">
                  <c:v>1/10</c:v>
                </c:pt>
                <c:pt idx="1">
                  <c:v>2/10</c:v>
                </c:pt>
                <c:pt idx="2">
                  <c:v>3/10</c:v>
                </c:pt>
                <c:pt idx="3">
                  <c:v>4/10</c:v>
                </c:pt>
                <c:pt idx="4">
                  <c:v>5/10</c:v>
                </c:pt>
                <c:pt idx="5">
                  <c:v>6/10</c:v>
                </c:pt>
                <c:pt idx="6">
                  <c:v>7/10</c:v>
                </c:pt>
                <c:pt idx="7">
                  <c:v>8/10</c:v>
                </c:pt>
                <c:pt idx="8">
                  <c:v>9/10</c:v>
                </c:pt>
                <c:pt idx="9">
                  <c:v>10/10</c:v>
                </c:pt>
                <c:pt idx="10">
                  <c:v>11/10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Arial"/>
              </a:rPr>
              <a:t>APAC Monthly Business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2CC8F"/>
                </a:solidFill>
                <a:latin typeface="Arial"/>
              </a:rPr>
              <a:t>September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DE7EA"/>
                </a:solidFill>
                <a:latin typeface="Arial"/>
              </a:rPr>
              <a:t>APAC Business Analytics - Hong Kong</a:t>
            </a:r>
          </a:p>
          <a:p>
            <a:r>
              <a:rPr sz="1200" b="0" i="0">
                <a:solidFill>
                  <a:srgbClr val="DDE7EA"/>
                </a:solidFill>
                <a:latin typeface="Arial"/>
              </a:rPr>
              <a:t>Distribution: APAC MD, Country GMs, HQ Retail &amp; Finance</a:t>
            </a:r>
          </a:p>
          <a:p>
            <a:r>
              <a:rPr sz="1200" b="0" i="0">
                <a:solidFill>
                  <a:srgbClr val="DDE7EA"/>
                </a:solidFill>
                <a:latin typeface="Arial"/>
              </a:rPr>
              <a:t>v1.1 - 13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Key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September at constant FX (2025 average rates)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APAC September sales EUR 15.9 m at constant FX, +12.8% vs LY and -1.6% vs budget.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Greater China leads: POLARIS (Genius) launch on 24/9 sold through fast in Shanghai, Beijing and Chengdu; strong local clientele before Golden Week.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Japan held back by an unusually warm end of September (27-29°C): outerwear slow, knit and sneakers fine. Inbound (CN/TW) recovering in the last week.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Korea +17.7%: Cheongdam flagship ahead of the department stores. Chuseok holidays (24-26/9) moved part of local demand abroad.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Hong Kong lost 1.5 days to typhoon signal 8 (17-18/9).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Early October: ILVARO powder pink sold out across Asia within 1-3 days after the LUMIERE / Yoon Ha-eun photos (1/10). We need replenishment.</a:t>
            </a:r>
          </a:p>
          <a:p>
            <a:pPr>
              <a:spcAft>
                <a:spcPts val="900"/>
              </a:spcAft>
            </a:pPr>
            <a:r>
              <a:rPr sz="1500" b="0" i="0">
                <a:solidFill>
                  <a:srgbClr val="222222"/>
                </a:solidFill>
                <a:latin typeface="Arial"/>
              </a:rPr>
              <a:t>• Sydney: spring season, clients ask for T-shirts/polos/light jackets; the statistical forecast still pushes down jackets.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September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Constant FX; Japan incl. consumption tax; Korea dept stores on dept-store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560320" cy="201168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E4D64"/>
                </a:solidFill>
                <a:latin typeface="Arial"/>
              </a:rPr>
              <a:t>EUR 15.9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Arial"/>
              </a:rPr>
              <a:t>+12.8% vs 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2560320" cy="201168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vs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E4D64"/>
                </a:solidFill>
                <a:latin typeface="Arial"/>
              </a:rPr>
              <a:t>-1.6%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Arial"/>
              </a:rPr>
              <a:t>Budget EUR 16.2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2560320" cy="201168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Traffic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E4D64"/>
                </a:solidFill>
                <a:latin typeface="Arial"/>
              </a:rPr>
              <a:t>82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Arial"/>
              </a:rPr>
              <a:t>+19.6% vs 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737360"/>
            <a:ext cx="2560320" cy="201168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E4D64"/>
                </a:solidFill>
                <a:latin typeface="Arial"/>
              </a:rPr>
              <a:t>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222222"/>
                </a:solidFill>
                <a:latin typeface="Arial"/>
              </a:rPr>
              <a:t>LY 12.1%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7A869A"/>
                </a:solidFill>
                <a:latin typeface="Arial"/>
              </a:rPr>
              <a:t>• Sales before returns (returns are tracked separately by the Quality team).</a:t>
            </a:r>
          </a:p>
          <a:p>
            <a:r>
              <a:rPr sz="1100" b="0" i="0">
                <a:solidFill>
                  <a:srgbClr val="7A869A"/>
                </a:solidFill>
                <a:latin typeface="Arial"/>
              </a:rPr>
              <a:t>• Traffic = door counters; department-store corners use the dept-store feed. LY receipts partially estimated from legacy POS.</a:t>
            </a:r>
          </a:p>
          <a:p>
            <a:r>
              <a:rPr sz="1100" b="0" i="0">
                <a:solidFill>
                  <a:srgbClr val="7A869A"/>
                </a:solidFill>
                <a:latin typeface="Arial"/>
              </a:rPr>
              <a:t>• Budget converted at budget 2026 rates (HQ standard).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Sales by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EUR k, constant FX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56692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68680"/>
                <a:gridCol w="868680"/>
                <a:gridCol w="777240"/>
                <a:gridCol w="86868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Sep 26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Sep 25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vs LY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Japan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5,321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4,569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+16.4%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4,633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+14.8%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Korea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3,719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3,161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+17.7%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4,225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-12.0%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Mainland China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4,649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3,889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+19.5%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5,033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-7.6%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HK &amp; Taiwan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1,188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1,350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-12.0%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1,391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-14.6%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South-East Asia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799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-1.7%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597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+31.7%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Oceania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-27.2%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Arial"/>
                        </a:rPr>
                        <a:t>-12.5%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APAC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15,912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14,111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+12.8%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16,163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Arial"/>
                        </a:rPr>
                        <a:t>-1.6%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92240" y="1371600"/>
          <a:ext cx="53035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7A869A"/>
                </a:solidFill>
                <a:latin typeface="Arial"/>
              </a:rPr>
              <a:t>Japan: from Japan country report (9月度 30/8-3/10, tax incl.).</a:t>
            </a:r>
          </a:p>
          <a:p>
            <a:r>
              <a:rPr sz="900" b="0" i="0">
                <a:solidFill>
                  <a:srgbClr val="7A869A"/>
                </a:solidFill>
                <a:latin typeface="Arial"/>
              </a:rPr>
              <a:t>Korea: Hyundai Apgujeong + Shinsegae Centum on dept-store month (26/8-25/9), VAT excl.; Cheongdam calendar month.</a:t>
            </a:r>
          </a:p>
          <a:p>
            <a:r>
              <a:rPr sz="900" b="0" i="0">
                <a:solidFill>
                  <a:srgbClr val="7A869A"/>
                </a:solidFill>
                <a:latin typeface="Arial"/>
              </a:rPr>
              <a:t>Other markets: BI, calendar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Japan - warm weather delayed outerwear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Source: Japan country monthly report (tax incl., JPY 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49440" y="146304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E4D64"/>
                </a:solidFill>
                <a:latin typeface="Arial"/>
              </a:rPr>
              <a:t>9月度 前年比 116.4%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Ginza and Shinsaibashi recovered in the last week with Golden Week inbound (CN, TW).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Max temperatures 27-29°C until 11/10: down jackets slow, knit and Trailgrip OK.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Price increase 1 November (+8% avg on carry-over) to be announced to clients on 9/10: we expect pre-buying.</a:t>
            </a:r>
          </a:p>
          <a:p>
            <a:pPr>
              <a:spcAft>
                <a:spcPts val="800"/>
              </a:spcAft>
            </a:pPr>
            <a:r>
              <a:rPr sz="1200" b="0" i="1">
                <a:solidFill>
                  <a:srgbClr val="7A869A"/>
                </a:solidFill>
                <a:latin typeface="Arial"/>
              </a:rPr>
              <a:t>「残暑の影響でダウンの動きが鈍い。価格改定の告知後に駆け込み需要を見込む」 - 日本支社 営業企画部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Korea - Cheongdam leads, department stores steady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Dept stores on dept-store month 26/8-25/9; Cheongdam calendar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Sep 26 EUR k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Sep 25 EUR k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vs LY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Hyundai Apgujeong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1,301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1,089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+19.4%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Shinsegae Centum City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589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-7.7%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Cheongdam Flagship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1,830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1,434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+27.6%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Chuseok (24-26/9): many Korean clients travelling to Europe; strong demand for black MAIRE reported by Paris and Milan (Korean shoppers).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BADY and ILVARO best sellers in women; LOGO HOODIE strong with younger clients.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Busan Film Festival from 1/10 will support Centum City in October.</a:t>
            </a:r>
          </a:p>
          <a:p>
            <a:pPr>
              <a:spcAft>
                <a:spcPts val="800"/>
              </a:spcAft>
            </a:pPr>
            <a:r>
              <a:rPr sz="1200" b="0" i="1">
                <a:solidFill>
                  <a:srgbClr val="7A869A"/>
                </a:solidFill>
                <a:latin typeface="Arial"/>
              </a:rPr>
              <a:t>"추석 연휴 해외 출국 고객 증가로 9월 하순 국내 매장 방문 감소" - Korea Retail team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Greater China - POLARIS is a hit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Mainland China and HK &amp; Taiwan, constant FX, sales before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630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Mainland China +19.5% vs LY. POLARIS: 129 units in the first 7 days (vs 77 in all of EMEA).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Clients from Shanghai and Beijing travelling domestically for Golden Week from 1/10 (Chengdu Taikoo Li very busy).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HK &amp; Taiwan -12.0%: Canton Road closed on 17/9 (typhoon signal 8), reopened 18/9 15:00.</a:t>
            </a:r>
          </a:p>
          <a:p>
            <a:pPr>
              <a:spcAft>
                <a:spcPts val="800"/>
              </a:spcAft>
            </a:pPr>
            <a:r>
              <a:rPr sz="1200" b="0" i="1">
                <a:solidFill>
                  <a:srgbClr val="7A869A"/>
                </a:solidFill>
                <a:latin typeface="Arial"/>
              </a:rPr>
              <a:t>「POLARIS 系列上市首周表现超预期，斗篷款多个门店断码」 - 中国区零售团队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South-East Asia &amp; Oceania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Singapore Marina Bay Sands, Sydney Castlereagh 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E4D64"/>
                </a:solidFill>
                <a:latin typeface="Arial"/>
              </a:rPr>
              <a:t>Singapore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Sales 786 k, -1.7% vs LY. Jersey and footwear drive the store; F1 Grand Prix 9-11/10 ahead.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0E4D64"/>
                </a:solidFill>
                <a:latin typeface="Arial"/>
              </a:rPr>
              <a:t>Sydney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Sales 249 k, -27.2% vs LY. It is spring: clients ask for T-shirts, polos and light jackets.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The central forecast still allocates heavy down jackets to Sydney (northern-hemisphere seasonality). We asked Planning to review.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0" y="1463040"/>
          <a:ext cx="51206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Clientele - inbound share by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Share of sales lines by customer nationality at POS, September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0972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280160"/>
                <a:gridCol w="1188720"/>
                <a:gridCol w="1188720"/>
                <a:gridCol w="1188720"/>
                <a:gridCol w="118872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Market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Domestic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Mainland CN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Taiwan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Korea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Japan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Tax-free share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Japan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Korea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80%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Mainland China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98%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HK &amp; Taiwan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South-East Asia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Oceania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70%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26%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69A"/>
                </a:solidFill>
                <a:latin typeface="Arial"/>
              </a:rPr>
              <a:t>Hong Kong 'domestic' = HK residents. Nationality is mandatory only for tax-free transactions; domestic share may be overstated.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FW26 new-in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Units sold since launch to 30/9, APAC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14630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• AMBRINE strongest in Mainland China (long coat silhouette).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• ILVARO launch quantity was small (allocation at 55% of model); black broken early in Seoul.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• ARNEB size feedback: fits large.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22222"/>
                </a:solidFill>
                <a:latin typeface="Arial"/>
              </a:rPr>
              <a:t>• Ask HQ: ILVARO re-order for Asia before the celebrity effect fades.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Early October update (1-11/10)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7A869A"/>
                </a:solidFill>
                <a:latin typeface="Arial"/>
              </a:rPr>
              <a:t>Flash, BI daily data - not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8521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75120" y="14630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Yoon Ha-eun (LUMIERE) photographed in ILVARO powder pink at Paris Fashion Week on 1/10: pink sold out in all Asian stores in 1-3 days.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DC top-up landed 8/10 - gone the same day. Seoul Cheongdam re-order held at Incheon customs (KC certificate), now expected 13/10.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Golden Week Mainland China 1-7/10: +41% vs same dates LY (local currency).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Japan: price increase announced 9/10, first signs of pre-buying.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Risks &amp; asks to HQ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6035040"/>
                <a:gridCol w="2377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Topic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E4D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ILVARO pink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Emergency re-order + allocate 100% of next top-up to Asia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Merchandising HQ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Japan price increase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Extra MAYA/MAIRE stock for TYO01/OSA01 before 1/11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Planning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Sydney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Override forecast: shift to SS/light items until December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Demand Planning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POLARIS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Re-allocate EU/US POLARIS stock to Greater China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Merchandising HQ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TIB vest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Clarify defect scope (batch) - first returns in Japan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Double 11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Price-match policy for stores vs Tmall pre-sales from 20/10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China Retail / E-com</a:t>
                      </a:r>
                    </a:p>
                  </a:txBody>
                  <a:tcPr marL="45720" marR="45720" marT="18288" marB="18288" anchor="ctr"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0E4D64"/>
                </a:solidFill>
                <a:latin typeface="Arial"/>
              </a:rPr>
              <a:t>Appendix -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7A869A"/>
                </a:solidFill>
                <a:latin typeface="Arial"/>
              </a:rPr>
              <a:t>APAC Business Analytics  |  Confidential - Internal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869A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Constant FX: all currencies converted at 2025 average rates (JPY 166.6, KRW 1,598, CNY 8.13, HKD 8.80, TWD 35.95, SGD 1.465, AUD 1.738 per EUR) for both years.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Sales: gross sales less discounts, before customer returns (APAC standard). HQ flash reports net of returns.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Japan: figures taken from the Japan country report: tax inclusive (consumption tax 10%), net of returns, fiscal month 9月度 = 30/8-3/10 (5 weeks Sun-Sat). LY on the same basis.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Korea: Hyundai Apgujeong and Shinsegae Centum City from the Korea weekly report on department-store month (26/8-25/9), VAT removed; Cheongdam flagship calendar month from BI.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Budget: HQ budget at budget 2026 FX rates.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22222"/>
                </a:solidFill>
                <a:latin typeface="Arial"/>
              </a:rPr>
              <a:t>• Traffic and conversion: BI KPI table, calendar month, all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