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门店销售（万元，含税）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2026年9月</c:v>
                </c:pt>
              </c:strCache>
            </c:strRef>
          </c:tx>
          <c:spPr>
            <a:solidFill>
              <a:srgbClr val="9E1B32"/>
            </a:solidFill>
          </c:spPr>
          <c:cat>
            <c:strRef>
              <c:f>Sheet1!$A$2:$A$4</c:f>
              <c:strCache>
                <c:ptCount val="3"/>
                <c:pt idx="0">
                  <c:v>上海恒隆广场店</c:v>
                </c:pt>
                <c:pt idx="1">
                  <c:v>北京SKP店</c:v>
                </c:pt>
                <c:pt idx="2">
                  <c:v>成都太古里店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1858</c:v>
                </c:pt>
                <c:pt idx="1">
                  <c:v>1334</c:v>
                </c:pt>
                <c:pt idx="2">
                  <c:v>957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2025年9月</c:v>
                </c:pt>
              </c:strCache>
            </c:strRef>
          </c:tx>
          <c:spPr>
            <a:solidFill>
              <a:srgbClr val="C9B8B8"/>
            </a:solidFill>
          </c:spPr>
          <c:cat>
            <c:strRef>
              <c:f>Sheet1!$A$2:$A$4</c:f>
              <c:strCache>
                <c:ptCount val="3"/>
                <c:pt idx="0">
                  <c:v>上海恒隆广场店</c:v>
                </c:pt>
                <c:pt idx="1">
                  <c:v>北京SKP店</c:v>
                </c:pt>
                <c:pt idx="2">
                  <c:v>成都太古里店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1401</c:v>
                </c:pt>
                <c:pt idx="1">
                  <c:v>1292</c:v>
                </c:pt>
                <c:pt idx="2">
                  <c:v>815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每日新增笔记数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ILVARO 粉色 相关笔记数（小红书）</c:v>
                </c:pt>
              </c:strCache>
            </c:strRef>
          </c:tx>
          <c:spPr>
            <a:ln>
              <a:solidFill>
                <a:srgbClr val="9E1B32"/>
              </a:solidFill>
            </a:ln>
          </c:spPr>
          <c:cat>
            <c:strRef>
              <c:f>Sheet1!$A$2:$A$12</c:f>
              <c:strCache>
                <c:ptCount val="11"/>
                <c:pt idx="0">
                  <c:v>10/1</c:v>
                </c:pt>
                <c:pt idx="1">
                  <c:v>10/2</c:v>
                </c:pt>
                <c:pt idx="2">
                  <c:v>10/3</c:v>
                </c:pt>
                <c:pt idx="3">
                  <c:v>10/4</c:v>
                </c:pt>
                <c:pt idx="4">
                  <c:v>10/5</c:v>
                </c:pt>
                <c:pt idx="5">
                  <c:v>10/6</c:v>
                </c:pt>
                <c:pt idx="6">
                  <c:v>10/7</c:v>
                </c:pt>
                <c:pt idx="7">
                  <c:v>10/8</c:v>
                </c:pt>
                <c:pt idx="8">
                  <c:v>10/9</c:v>
                </c:pt>
                <c:pt idx="9">
                  <c:v>10/10</c:v>
                </c:pt>
                <c:pt idx="10">
                  <c:v>10/11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120</c:v>
                </c:pt>
                <c:pt idx="1">
                  <c:v>2850</c:v>
                </c:pt>
                <c:pt idx="2">
                  <c:v>4620</c:v>
                </c:pt>
                <c:pt idx="3">
                  <c:v>3980</c:v>
                </c:pt>
                <c:pt idx="4">
                  <c:v>3010</c:v>
                </c:pt>
                <c:pt idx="5">
                  <c:v>2380</c:v>
                </c:pt>
                <c:pt idx="6">
                  <c:v>1890</c:v>
                </c:pt>
                <c:pt idx="7">
                  <c:v>1700</c:v>
                </c:pt>
                <c:pt idx="8">
                  <c:v>1490</c:v>
                </c:pt>
                <c:pt idx="9">
                  <c:v>1260</c:v>
                </c:pt>
                <c:pt idx="10">
                  <c:v>1105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POLARIS 相关笔记数</c:v>
                </c:pt>
              </c:strCache>
            </c:strRef>
          </c:tx>
          <c:spPr>
            <a:ln>
              <a:solidFill>
                <a:srgbClr val="7F7F7F"/>
              </a:solidFill>
            </a:ln>
          </c:spPr>
          <c:cat>
            <c:strRef>
              <c:f>Sheet1!$A$2:$A$12</c:f>
              <c:strCache>
                <c:ptCount val="11"/>
                <c:pt idx="0">
                  <c:v>10/1</c:v>
                </c:pt>
                <c:pt idx="1">
                  <c:v>10/2</c:v>
                </c:pt>
                <c:pt idx="2">
                  <c:v>10/3</c:v>
                </c:pt>
                <c:pt idx="3">
                  <c:v>10/4</c:v>
                </c:pt>
                <c:pt idx="4">
                  <c:v>10/5</c:v>
                </c:pt>
                <c:pt idx="5">
                  <c:v>10/6</c:v>
                </c:pt>
                <c:pt idx="6">
                  <c:v>10/7</c:v>
                </c:pt>
                <c:pt idx="7">
                  <c:v>10/8</c:v>
                </c:pt>
                <c:pt idx="8">
                  <c:v>10/9</c:v>
                </c:pt>
                <c:pt idx="9">
                  <c:v>10/10</c:v>
                </c:pt>
                <c:pt idx="10">
                  <c:v>10/11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310</c:v>
                </c:pt>
                <c:pt idx="1">
                  <c:v>290</c:v>
                </c:pt>
                <c:pt idx="2">
                  <c:v>340</c:v>
                </c:pt>
                <c:pt idx="3">
                  <c:v>300</c:v>
                </c:pt>
                <c:pt idx="4">
                  <c:v>280</c:v>
                </c:pt>
                <c:pt idx="5">
                  <c:v>260</c:v>
                </c:pt>
                <c:pt idx="6">
                  <c:v>240</c:v>
                </c:pt>
                <c:pt idx="7">
                  <c:v>230</c:v>
                </c:pt>
                <c:pt idx="8">
                  <c:v>220</c:v>
                </c:pt>
                <c:pt idx="9">
                  <c:v>210</c:v>
                </c:pt>
                <c:pt idx="10">
                  <c:v>190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Microsoft YaHe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YaHei"/>
              </a:rPr>
              <a:t>MONCLER
中国区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3774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9E1B32"/>
                </a:solidFill>
                <a:latin typeface="Microsoft YaHei"/>
              </a:rPr>
              <a:t>2026年9月 经营月报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200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7F7F7F"/>
                </a:solidFill>
                <a:latin typeface="Microsoft YaHei"/>
              </a:rPr>
              <a:t>全渠道（门店 + 天猫旗舰店 + 微信小程序）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51206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F7F7F"/>
                </a:solidFill>
                <a:latin typeface="Microsoft YaHei"/>
              </a:rPr>
              <a:t>中国区零售运营部</a:t>
            </a:r>
          </a:p>
          <a:p>
            <a:r>
              <a:rPr sz="1200" b="0" i="0">
                <a:solidFill>
                  <a:srgbClr val="7F7F7F"/>
                </a:solidFill>
                <a:latin typeface="Microsoft YaHei"/>
              </a:rPr>
              <a:t>2026年10月12日 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E1B32"/>
                </a:solidFill>
                <a:latin typeface="Microsoft YaHei"/>
              </a:rPr>
              <a:t>核心摘要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F7F7F"/>
                </a:solidFill>
                <a:latin typeface="Microsoft YaHei"/>
              </a:rPr>
              <a:t>金额单位：人民币，含税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F7F7F"/>
                </a:solidFill>
                <a:latin typeface="Microsoft YaHei"/>
              </a:rPr>
              <a:t>中国区零售运营部 | 内部资料 严禁外传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F7F7F"/>
                </a:solidFill>
                <a:latin typeface="Microsoft Ya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1F1F1F"/>
                </a:solidFill>
                <a:latin typeface="Microsoft YaHei"/>
              </a:rPr>
              <a:t>• 9月全渠道销售 5,886 万元，同比 +27.9%；其中门店 4,149 万元，同比 +18.3%，预算达成 94%。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1F1F1F"/>
                </a:solidFill>
                <a:latin typeface="Microsoft YaHei"/>
              </a:rPr>
              <a:t>• 线上（天猫旗舰店+微信小程序）1,737 万元，同比 +59%。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1F1F1F"/>
                </a:solidFill>
                <a:latin typeface="Microsoft YaHei"/>
              </a:rPr>
              <a:t>• Genius POLARIS 系列 9月24日上市，首周表现超预期，北京SKP 斗篷款（CAPE）黑色 XXL 已断码。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1F1F1F"/>
                </a:solidFill>
                <a:latin typeface="Microsoft YaHei"/>
              </a:rPr>
              <a:t>• 国庆前两周本地客流稳定，成都太古里外地游客明显增加。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1F1F1F"/>
                </a:solidFill>
                <a:latin typeface="Microsoft YaHei"/>
              </a:rPr>
              <a:t>• 10月初 小红书 上 ILVARO 粉色 话题爆发（LUMIERE 成员 尹夏恩 巴黎时装周同款），门店到货即售罄，大量顾客登记预订。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1F1F1F"/>
                </a:solidFill>
                <a:latin typeface="Microsoft YaHei"/>
              </a:rPr>
              <a:t>• 风险：双11 预售（10月20日开始）期间门店客流可能分流，顾客询问门店是否与天猫同价。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E1B32"/>
                </a:solidFill>
                <a:latin typeface="Microsoft YaHei"/>
              </a:rPr>
              <a:t>全渠道业绩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F7F7F"/>
                </a:solidFill>
                <a:latin typeface="Microsoft YaHei"/>
              </a:rPr>
              <a:t>9月，含税，万元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F7F7F"/>
                </a:solidFill>
                <a:latin typeface="Microsoft YaHei"/>
              </a:rPr>
              <a:t>中国区零售运营部 | 内部资料 严禁外传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F7F7F"/>
                </a:solidFill>
                <a:latin typeface="Microsoft YaHe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74980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188720"/>
                <a:gridCol w="1005840"/>
                <a:gridCol w="109728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渠道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2026年9月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2025年9月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同比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预算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达成率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上海恒隆广场店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1,858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1,401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+32.6%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1,927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96%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北京SKP店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1,334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1,292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+3.2%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1,425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94%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成都太古里店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957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815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+17.4%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1,084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88%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门店合计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4,149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3,508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+18.3%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4,436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94%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天猫旗舰店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1,187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1,094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+8.5%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微信小程序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550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新渠道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线上合计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1,737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1,094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+58.8%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1F1F"/>
                          </a:solidFill>
                          <a:latin typeface="Microsoft YaHei"/>
                        </a:rPr>
                        <a:t>全渠道合计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F1F1F"/>
                          </a:solidFill>
                          <a:latin typeface="Microsoft YaHei"/>
                        </a:rPr>
                        <a:t>5,886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F1F1F"/>
                          </a:solidFill>
                          <a:latin typeface="Microsoft YaHei"/>
                        </a:rPr>
                        <a:t>4,602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F1F1F"/>
                          </a:solidFill>
                          <a:latin typeface="Microsoft YaHei"/>
                        </a:rPr>
                        <a:t>+27.9%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F1F1F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F1F1F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21040" y="137160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7F7F7F"/>
                </a:solidFill>
                <a:latin typeface="Microsoft YaHei"/>
              </a:rPr>
              <a:t>• 门店数据来源：BI 系统净销售（扣除退货）× 1.13 增值税。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7F7F7F"/>
                </a:solidFill>
                <a:latin typeface="Microsoft YaHei"/>
              </a:rPr>
              <a:t>• 天猫数据来源：TP 服务商月结单（含税，扣除退款）。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7F7F7F"/>
                </a:solidFill>
                <a:latin typeface="Microsoft YaHei"/>
              </a:rPr>
              <a:t>• 微信小程序于2025年11月上线，无去年同期，线上同比按天猫去年同期计算。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7F7F7F"/>
                </a:solidFill>
                <a:latin typeface="Microsoft YaHei"/>
              </a:rPr>
              <a:t>• 预算仅含门店。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E1B32"/>
                </a:solidFill>
                <a:latin typeface="Microsoft YaHei"/>
              </a:rPr>
              <a:t>门店业绩与客流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F7F7F"/>
                </a:solidFill>
                <a:latin typeface="Microsoft YaHei"/>
              </a:rPr>
              <a:t>9月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F7F7F"/>
                </a:solidFill>
                <a:latin typeface="Microsoft YaHei"/>
              </a:rPr>
              <a:t>中国区零售运营部 | 内部资料 严禁外传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F7F7F"/>
                </a:solidFill>
                <a:latin typeface="Microsoft YaHei"/>
              </a:rPr>
              <a:t>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280160"/>
          <a:ext cx="57607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463040"/>
          <a:ext cx="51206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822960"/>
                <a:gridCol w="82296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门店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客流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同比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转化率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客单价(元)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上海恒隆广场店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11,148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+34.4%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8.6%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19,374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北京SKP店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7,039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+13.8%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10.3%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18,403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成都太古里店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4,973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+19.0%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9.8%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19,563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32918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  <a:latin typeface="Microsoft YaHei"/>
              </a:rPr>
              <a:t>• 成都太古里客流增长主要来自外地游客（川渝周边及西北）。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  <a:latin typeface="Microsoft YaHei"/>
              </a:rPr>
              <a:t>• 北京SKP 转化率较高，VIC 预约到店增加。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E1B32"/>
                </a:solidFill>
                <a:latin typeface="Microsoft YaHei"/>
              </a:rPr>
              <a:t>Genius POLARIS 上市表现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F7F7F"/>
                </a:solidFill>
                <a:latin typeface="Microsoft YaHei"/>
              </a:rPr>
              <a:t>9月24日-30日，售罄率 = 销售件数 /（销售件数 + 期末库存件数）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F7F7F"/>
                </a:solidFill>
                <a:latin typeface="Microsoft YaHei"/>
              </a:rPr>
              <a:t>中国区零售运营部 | 内部资料 严禁外传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F7F7F"/>
                </a:solidFill>
                <a:latin typeface="Microsoft YaHe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69494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005840"/>
                <a:gridCol w="100584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款式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门店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销售件数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期末库存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售罄率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Polaris Cape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上海恒隆广场店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23%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Polaris Cape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北京SKP店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43%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Polaris Cape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成都太古里店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33%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Polaris Oversized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上海恒隆广场店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13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34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28%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Polaris Oversized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北京SKP店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32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20%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Polaris Oversized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成都太古里店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13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33%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Polaris Balaclava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上海恒隆广场店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54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29%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Polaris Balaclava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北京SKP店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19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34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36%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Polaris Balaclava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成都太古里店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Microsoft YaHei"/>
                        </a:rPr>
                        <a:t>21%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14630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Microsoft YaHei"/>
              </a:rPr>
              <a:t>• 北京SKP 斗篷款（CAPE）黑色 XXL 首周断码，上海 M 码库存充足。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Microsoft YaHei"/>
              </a:rPr>
              <a:t>• 顾客反馈：廓形好看，价格可以接受，多为连带购买。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Microsoft YaHei"/>
              </a:rPr>
              <a:t>• 建议：申请从欧洲调拨 POLARIS 库存（欧洲销售较弱）。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E1B32"/>
                </a:solidFill>
                <a:latin typeface="Microsoft YaHei"/>
              </a:rPr>
              <a:t>社交媒体热度：小红书 / 抖音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F7F7F"/>
                </a:solidFill>
                <a:latin typeface="Microsoft YaHei"/>
              </a:rPr>
              <a:t>10月1日-11日，第三方舆情监测（品牌相关笔记）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F7F7F"/>
                </a:solidFill>
                <a:latin typeface="Microsoft YaHei"/>
              </a:rPr>
              <a:t>中国区零售运营部 | 内部资料 严禁外传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F7F7F"/>
                </a:solidFill>
                <a:latin typeface="Microsoft YaHei"/>
              </a:rP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280160"/>
          <a:ext cx="67665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3716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  <a:latin typeface="Microsoft YaHei"/>
              </a:rPr>
              <a:t>• 10月1日 LUMIERE 成员 尹夏恩（Yoon Ha-eun）在巴黎时装周场外穿着 ILVARO 粉色，10月2日起小红书相关笔记激增，“同款”搜索量排名第一。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  <a:latin typeface="Microsoft YaHei"/>
              </a:rPr>
              <a:t>• 三家门店 ILVARO 粉色 10月2-3日核心尺码全部售罄，10月8日补货当天售完。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  <a:latin typeface="Microsoft YaHei"/>
              </a:rPr>
              <a:t>• 黑色、米白色 ILVARO 询问量同步上升。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  <a:latin typeface="Microsoft YaHei"/>
              </a:rPr>
              <a:t>• POLARIS 讨论热度平稳，以穿搭分享为主。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  <a:latin typeface="Microsoft YaHei"/>
              </a:rPr>
              <a:t>• 数据说明：第三方监测平台口径，含转发，未去重。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E1B32"/>
                </a:solidFill>
                <a:latin typeface="Microsoft YaHei"/>
              </a:rPr>
              <a:t>国庆黄金周快报（10月1日-7日）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F7F7F"/>
                </a:solidFill>
                <a:latin typeface="Microsoft YaHei"/>
              </a:rPr>
              <a:t>含税，万元，同比为去年同日期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F7F7F"/>
                </a:solidFill>
                <a:latin typeface="Microsoft YaHei"/>
              </a:rPr>
              <a:t>中国区零售运营部 | 内部资料 严禁外传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F7F7F"/>
                </a:solidFill>
                <a:latin typeface="Microsoft YaHe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渠道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2026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2025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同比</a:t>
                      </a:r>
                    </a:p>
                  </a:txBody>
                  <a:tcPr marL="45720" marR="45720" marT="18288" marB="18288" anchor="ctr">
                    <a:solidFill>
                      <a:srgbClr val="9E1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Microsoft YaHei"/>
                        </a:rPr>
                        <a:t>门店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1F1F"/>
                          </a:solidFill>
                          <a:latin typeface="Microsoft YaHei"/>
                        </a:rPr>
                        <a:t>1,812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1F1F"/>
                          </a:solidFill>
                          <a:latin typeface="Microsoft YaHei"/>
                        </a:rPr>
                        <a:t>1,281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1F1F"/>
                          </a:solidFill>
                          <a:latin typeface="Microsoft YaHei"/>
                        </a:rPr>
                        <a:t>+41.5%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Microsoft YaHei"/>
                        </a:rPr>
                        <a:t>线上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1F1F"/>
                          </a:solidFill>
                          <a:latin typeface="Microsoft YaHei"/>
                        </a:rPr>
                        <a:t>469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1F1F"/>
                          </a:solidFill>
                          <a:latin typeface="Microsoft YaHei"/>
                        </a:rPr>
                        <a:t>248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1F1F"/>
                          </a:solidFill>
                          <a:latin typeface="Microsoft YaHei"/>
                        </a:rPr>
                        <a:t>+88.9%</a:t>
                      </a:r>
                    </a:p>
                  </a:txBody>
                  <a:tcPr marL="45720" marR="45720" marT="18288" marB="18288" anchor="ctr">
                    <a:solidFill>
                      <a:srgbClr val="F6F1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1F1F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F1F1F"/>
                          </a:solidFill>
                          <a:latin typeface="Microsoft YaHei"/>
                        </a:rPr>
                        <a:t>2,281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F1F1F"/>
                          </a:solidFill>
                          <a:latin typeface="Microsoft YaHei"/>
                        </a:rPr>
                        <a:t>1,529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F1F1F"/>
                          </a:solidFill>
                          <a:latin typeface="Microsoft YaHei"/>
                        </a:rPr>
                        <a:t>+49.2%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Microsoft YaHei"/>
              </a:rPr>
              <a:t>• 外地游客占比提升，成都表现最好。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Microsoft YaHei"/>
              </a:rPr>
              <a:t>• 客流增幅高于销售增幅，较多浏览型客户。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Microsoft YaHei"/>
              </a:rPr>
              <a:t>• ILVARO 粉色无货，登记预订顾客超过百名（三店合计）。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E1B32"/>
                </a:solidFill>
                <a:latin typeface="Microsoft YaHei"/>
              </a:rPr>
              <a:t>10月展望与需求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F7F7F"/>
                </a:solidFill>
                <a:latin typeface="Microsoft YaHei"/>
              </a:rPr>
              <a:t>中国区零售运营部 | 内部资料 严禁外传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F7F7F"/>
                </a:solidFill>
                <a:latin typeface="Microsoft YaHe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 i="0">
                <a:solidFill>
                  <a:srgbClr val="1F1F1F"/>
                </a:solidFill>
                <a:latin typeface="Microsoft YaHei"/>
              </a:rPr>
              <a:t>• 双11 预售 10月20日开始：预计门店客流下降 10-15%，需总部明确门店是否价格保护/同价政策。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F1F1F"/>
                </a:solidFill>
                <a:latin typeface="Microsoft YaHei"/>
              </a:rPr>
              <a:t>• ILVARO 粉色：申请紧急追单，优先分配中国区；目前登记顾客名单持续增加。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F1F1F"/>
                </a:solidFill>
                <a:latin typeface="Microsoft YaHei"/>
              </a:rPr>
              <a:t>• POLARIS：申请从欧洲/美国调拨库存。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F1F1F"/>
                </a:solidFill>
                <a:latin typeface="Microsoft YaHei"/>
              </a:rPr>
              <a:t>• TIB 马甲 拉链质量问题：北京SKP 已有退货，等待总部质检结论。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F1F1F"/>
                </a:solidFill>
                <a:latin typeface="Microsoft YaHei"/>
              </a:rPr>
              <a:t>• 天气：北方 10月下旬降温，羽绒服进入旺季。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