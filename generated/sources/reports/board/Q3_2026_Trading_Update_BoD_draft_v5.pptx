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Q3 2025</c:v>
                </c:pt>
              </c:strCache>
            </c:strRef>
          </c:tx>
          <c:spPr>
            <a:solidFill>
              <a:srgbClr val="C9C1B1"/>
            </a:solidFill>
          </c:spPr>
          <c:cat>
            <c:strRef>
              <c:f>Sheet1!$A$2:$A$4</c:f>
              <c:strCache>
                <c:ptCount val="3"/>
                <c:pt idx="0">
                  <c:v>EMEA</c:v>
                </c:pt>
                <c:pt idx="1">
                  <c:v>AMERICAS</c:v>
                </c:pt>
                <c:pt idx="2">
                  <c:v>APAC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7</c:v>
                </c:pt>
                <c:pt idx="2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2026</c:v>
                </c:pt>
              </c:strCache>
            </c:strRef>
          </c:tx>
          <c:spPr>
            <a:solidFill>
              <a:srgbClr val="1A1A1A"/>
            </a:solidFill>
          </c:spPr>
          <c:cat>
            <c:strRef>
              <c:f>Sheet1!$A$2:$A$4</c:f>
              <c:strCache>
                <c:ptCount val="3"/>
                <c:pt idx="0">
                  <c:v>EMEA</c:v>
                </c:pt>
                <c:pt idx="1">
                  <c:v>AMERICAS</c:v>
                </c:pt>
                <c:pt idx="2">
                  <c:v>APAC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</c:v>
                </c:pt>
                <c:pt idx="1">
                  <c:v>7</c:v>
                </c:pt>
                <c:pt idx="2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mbria"/>
              </a:rPr>
              <a:t>VALENTINO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D9C7A3"/>
                </a:solidFill>
                <a:latin typeface="Cambria"/>
              </a:rPr>
              <a:t>Q3 2026 Trading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BBBBBB"/>
                </a:solidFill>
                <a:latin typeface="Calibri"/>
              </a:rPr>
              <a:t>Board of Directors - 28 October 2026</a:t>
            </a:r>
          </a:p>
          <a:p>
            <a:r>
              <a:rPr sz="1300" b="0" i="0">
                <a:solidFill>
                  <a:srgbClr val="BBBBBB"/>
                </a:solidFill>
                <a:latin typeface="Calibri"/>
              </a:rPr>
              <a:t>DRAFT v5 - for discussion - figures subject to closing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Cambria"/>
              </a:rPr>
              <a:t>Q3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8A8A8A"/>
                </a:solidFill>
                <a:latin typeface="Calibri"/>
              </a:rPr>
              <a:t>Board of Directors - 28 October 2026 - DRAFT v5 - Strictly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560320" cy="182880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1A1A1A"/>
                </a:solidFill>
                <a:latin typeface="Cambria"/>
              </a:rPr>
              <a:t>€66m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A8A8A"/>
                </a:solidFill>
                <a:latin typeface="Calibri"/>
              </a:rPr>
              <a:t>DOS revenue Q3 (reported)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554480"/>
            <a:ext cx="2560320" cy="182880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1A1A1A"/>
                </a:solidFill>
                <a:latin typeface="Cambria"/>
              </a:rPr>
              <a:t>+6%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A8A8A"/>
                </a:solidFill>
                <a:latin typeface="Calibri"/>
              </a:rPr>
              <a:t>DOS organic growth (const. FX)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2560320" cy="182880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1A1A1A"/>
                </a:solidFill>
                <a:latin typeface="Cambria"/>
              </a:rPr>
              <a:t>+6%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A8A8A"/>
                </a:solidFill>
                <a:latin typeface="Calibri"/>
              </a:rPr>
              <a:t>DOS growth reported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554480"/>
            <a:ext cx="2560320" cy="182880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7373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1A1A1A"/>
                </a:solidFill>
                <a:latin typeface="Cambria"/>
              </a:rPr>
              <a:t>+24%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8A8A8A"/>
                </a:solidFill>
                <a:latin typeface="Calibri"/>
              </a:rPr>
              <a:t>October QTD organic (to 18/10)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APAC the engine of growth (Greater China, Korea); EMEA solid with strong tourist flows in September; Americas flat.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FW26 new-in well received; Couture ASTRA a success in China. FW26 US/UK campaign delivered +22% attributed sales uplift.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• Watch-outs: VEL vest quality issue (slider), stock-outs on hero items (AUREA black, IRIDIA pink), Rome store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Cambria"/>
              </a:rPr>
              <a:t>Revenue by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8A8A8A"/>
                </a:solidFill>
                <a:latin typeface="Calibri"/>
              </a:rPr>
              <a:t>Board of Directors - 28 October 2026 - DRAFT v5 - Strictly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Calibri"/>
              </a:rP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73152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6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€m</a:t>
                      </a:r>
                    </a:p>
                  </a:txBody>
                  <a:tcPr marL="45720" marR="45720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Q3 2026</a:t>
                      </a:r>
                    </a:p>
                  </a:txBody>
                  <a:tcPr marL="45720" marR="45720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Q3 2025</a:t>
                      </a:r>
                    </a:p>
                  </a:txBody>
                  <a:tcPr marL="45720" marR="45720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Reported</a:t>
                      </a:r>
                    </a:p>
                  </a:txBody>
                  <a:tcPr marL="45720" marR="45720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Organic</a:t>
                      </a:r>
                    </a:p>
                  </a:txBody>
                  <a:tcPr marL="45720" marR="45720" marT="18288" marB="18288" anchor="ctr">
                    <a:solidFill>
                      <a:srgbClr val="1A1A1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Retail DOS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Digital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+15%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+17%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Wholesale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-6%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-4%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122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+3%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+7%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4630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• Organic = constant FX at 2025 average rates.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• Retail DOS = 39 directly operated stores; e-commerce reported in Digital.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8A8A8A"/>
                </a:solidFill>
                <a:latin typeface="Calibri"/>
              </a:rPr>
              <a:t>• Wholesale timing: FW26 deliveries anticipated into Q2.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Cambria"/>
              </a:rPr>
              <a:t>Retail DOS by region (€m, constant FX)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8A8A8A"/>
                </a:solidFill>
                <a:latin typeface="Calibri"/>
              </a:rPr>
              <a:t>Board of Directors - 28 October 2026 - DRAFT v5 - Strictly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80160"/>
          <a:ext cx="64008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79" y="1645920"/>
          <a:ext cx="4023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45720" marR="45720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Q3 26</a:t>
                      </a:r>
                    </a:p>
                  </a:txBody>
                  <a:tcPr marL="45720" marR="45720" marT="18288" marB="18288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Organic</a:t>
                      </a:r>
                    </a:p>
                  </a:txBody>
                  <a:tcPr marL="45720" marR="45720" marT="18288" marB="18288" anchor="ctr"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€28m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Americas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€7m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+2%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APAC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€32m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+11%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€67m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+6%</a:t>
                      </a:r>
                    </a:p>
                  </a:txBody>
                  <a:tcPr marL="45720" marR="45720" marT="18288" marB="18288" anchor="ctr">
                    <a:solidFill>
                      <a:srgbClr val="F3F1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Cambria"/>
              </a:rPr>
              <a:t>October trading and Q4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8A8A8A"/>
                </a:solidFill>
                <a:latin typeface="Calibri"/>
              </a:rPr>
              <a:t>Board of Directors - 28 October 2026 - DRAFT v5 - Strictly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October QTD (1-18/10): +24% organic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Golden Week: Chinese clients in Milan, Paris and domestic China very strong.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Cold snap in Central Europe from 12/10 accelerated outerwear in Germany, Switzerland, Nordics.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Japan: pre-buying ahead of 1 November price increase.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IRIDIA powder pink: celebrity-driven sell-out in Asia; re-order under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Risks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VEL vest slider defect: potential stop-sale of July batch; provision under assessment (€1-2m).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Stock availability on hero items (AUREA black DC re-supply only from 16/10).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Double 11 pre-sales may cannibalise China store traffic in late October.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Market research (Castellane) flags cooling Korean demand - not visible in our numbers so far.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1A1A1A"/>
                </a:solidFill>
                <a:latin typeface="Cambria"/>
              </a:rPr>
              <a:t>Appendix - definitions and reconciliation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8A8A8A"/>
                </a:solidFill>
                <a:latin typeface="Calibri"/>
              </a:rPr>
              <a:t>Board of Directors - 28 October 2026 - DRAFT v5 - Strictly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8A8A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Quarter = calendar months July-September. Weekly flash (ISO weeks 27-39, 29/06-27/09) is not directly comparable.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Organic growth = both years at 2025 average FX rates (EUR/USD 1.125, EUR/JPY 167.9, EUR/CNY 8.08, EUR/KRW 1,593).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Reported = actual monthly average rates; regional MBRs use budget rates (EMEA) or other conventions (APAC: constant FX, sales before returns).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Figures rounded to the nearest €m; regional figures rounded independently and may not add to the total.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Digital and wholesale from Group consolidation (preliminary).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• Campaign uplift as reported by the media agency (Halden &amp; Rowe), not validated by Finance.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